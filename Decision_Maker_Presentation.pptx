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8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5324B"/>
                </a:solidFill>
                <a:latin typeface="Aptos"/>
              </a:defRPr>
            </a:pPr>
            <a:r>
              <a:t>Understanding diabetes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D8A8A"/>
                </a:solidFill>
                <a:latin typeface="Aptos"/>
              </a:defRPr>
            </a:pPr>
            <a:r>
              <a:t>What patient characteristics are associated with change over one year?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5324B"/>
                </a:solidFill>
                <a:latin typeface="Aptos"/>
              </a:defRPr>
            </a:pPr>
            <a:r>
              <a:t>442 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5324B"/>
                </a:solidFill>
                <a:latin typeface="Aptos"/>
              </a:defRPr>
            </a:pPr>
            <a:r>
              <a:t>10 patient characteristics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5324B"/>
                </a:solidFill>
                <a:latin typeface="Aptos"/>
              </a:defRPr>
            </a:pPr>
            <a:r>
              <a:t>One-year progression measure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7432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5324B"/>
                </a:solidFill>
                <a:latin typeface="Aptos"/>
              </a:defRPr>
            </a:pPr>
            <a:r>
              <a:t>The data show patterns of association.</a:t>
            </a:r>
            <a:br/>
            <a:r>
              <a:t>They do not show what caused progression.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89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96773"/>
                </a:solidFill>
                <a:latin typeface="Aptos"/>
              </a:defRPr>
            </a:pPr>
            <a:r>
              <a:t>A short analysis for health-service decision-makers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96773"/>
                </a:solidFill>
                <a:latin typeface="Aptos"/>
              </a:defRPr>
            </a:pPr>
            <a:r>
              <a:t>Diabetes progression | Scenario 1                                     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324B"/>
                </a:solidFill>
                <a:latin typeface="Aptos"/>
              </a:defRPr>
            </a:pPr>
            <a:r>
              <a:t>Three measurements stood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96773"/>
                </a:solidFill>
                <a:latin typeface="Aptos"/>
              </a:defRPr>
            </a:pPr>
            <a:r>
              <a:t>Exploratory correlations with the one-year progression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5324B"/>
                </a:solidFill>
                <a:latin typeface="Aptos"/>
              </a:defRPr>
            </a:pPr>
            <a:r>
              <a:t>BMI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645920"/>
            <a:ext cx="3776472" cy="384048"/>
          </a:xfrm>
          <a:prstGeom prst="rect">
            <a:avLst/>
          </a:prstGeom>
          <a:solidFill>
            <a:srgbClr val="1D8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1600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5324B"/>
                </a:solidFill>
                <a:latin typeface="Aptos"/>
              </a:defRPr>
            </a:pPr>
            <a:r>
              <a:t>0.59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5324B"/>
                </a:solidFill>
                <a:latin typeface="Aptos"/>
              </a:defRPr>
            </a:pPr>
            <a:r>
              <a:t>Serum measure s5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788920"/>
            <a:ext cx="3648456" cy="384048"/>
          </a:xfrm>
          <a:prstGeom prst="rect">
            <a:avLst/>
          </a:prstGeom>
          <a:solidFill>
            <a:srgbClr val="1D8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5324B"/>
                </a:solidFill>
                <a:latin typeface="Aptos"/>
              </a:defRPr>
            </a:pPr>
            <a:r>
              <a:t>0.57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5324B"/>
                </a:solidFill>
                <a:latin typeface="Aptos"/>
              </a:defRPr>
            </a:pPr>
            <a:r>
              <a:t>Blood pressure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3931920"/>
            <a:ext cx="2816352" cy="384048"/>
          </a:xfrm>
          <a:prstGeom prst="rect">
            <a:avLst/>
          </a:prstGeom>
          <a:solidFill>
            <a:srgbClr val="1D8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3886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5324B"/>
                </a:solidFill>
                <a:latin typeface="Aptos"/>
              </a:defRPr>
            </a:pPr>
            <a:r>
              <a:t>0.44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3492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96773"/>
                </a:solidFill>
                <a:latin typeface="Aptos"/>
              </a:defRPr>
            </a:pPr>
            <a:r>
              <a:t>These are correlations across patients, not estimates of treatment effects.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96773"/>
                </a:solidFill>
                <a:latin typeface="Aptos"/>
              </a:defRPr>
            </a:pPr>
            <a:r>
              <a:t>Diabetes progression | Scenario 1                                     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324B"/>
                </a:solidFill>
                <a:latin typeface="Aptos"/>
              </a:defRPr>
            </a:pPr>
            <a:r>
              <a:t>BMI is informative, but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96773"/>
                </a:solidFill>
                <a:latin typeface="Aptos"/>
              </a:defRPr>
            </a:pPr>
            <a:r>
              <a:t>The simple BMI model explained 34% of observed variation</a:t>
            </a:r>
          </a:p>
        </p:txBody>
      </p:sp>
      <p:pic>
        <p:nvPicPr>
          <p:cNvPr id="5" name="Picture 4" descr="bmi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720840" cy="33085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D8A8A"/>
                </a:solidFill>
                <a:latin typeface="Aptos"/>
              </a:defRPr>
            </a:pPr>
            <a:r>
              <a:t>10.23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33172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5324B"/>
                </a:solidFill>
                <a:latin typeface="Aptos"/>
              </a:defRPr>
            </a:pPr>
            <a:r>
              <a:t>higher progression units per BMI unit on average in this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657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96773"/>
                </a:solidFill>
                <a:latin typeface="Aptos"/>
              </a:defRPr>
            </a:pPr>
            <a:r>
              <a:t>95% CI: 8.91 to 11.56</a:t>
            </a:r>
            <a:br/>
            <a:r>
              <a:t>R² = 0.344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0749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324B"/>
                </a:solidFill>
                <a:latin typeface="Aptos"/>
              </a:defRPr>
            </a:pPr>
            <a:r>
              <a:t>Considerable variation remains around the fitted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96773"/>
                </a:solidFill>
                <a:latin typeface="Aptos"/>
              </a:defRPr>
            </a:pPr>
            <a:r>
              <a:t>Diabetes progression | Scenario 1                                     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324B"/>
                </a:solidFill>
                <a:latin typeface="Aptos"/>
              </a:defRPr>
            </a:pPr>
            <a:r>
              <a:t>Adding two measurements improved model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96773"/>
                </a:solidFill>
                <a:latin typeface="Aptos"/>
              </a:defRPr>
            </a:pPr>
            <a:r>
              <a:t>Multiple model: BMI + blood pressure + s5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96773"/>
                </a:solidFill>
                <a:latin typeface="Aptos"/>
              </a:defRPr>
            </a:pPr>
            <a:r>
              <a:t>BMI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D8A8A"/>
                </a:solidFill>
                <a:latin typeface="Aptos"/>
              </a:defRPr>
            </a:pPr>
            <a:r>
              <a:t>34%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5324B"/>
                </a:solidFill>
                <a:latin typeface="Aptos"/>
              </a:defRPr>
            </a:pPr>
            <a:r>
              <a:t>of variation explained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96773"/>
                </a:solidFill>
                <a:latin typeface="Aptos"/>
              </a:defRPr>
            </a:pPr>
            <a:r>
              <a:t>Three predictors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D8A8A"/>
                </a:solidFill>
                <a:latin typeface="Aptos"/>
              </a:defRPr>
            </a:pPr>
            <a:r>
              <a:t>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743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5324B"/>
                </a:solidFill>
                <a:latin typeface="Aptos"/>
              </a:defRPr>
            </a:pPr>
            <a:r>
              <a:t>of variation explained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554480"/>
            <a:ext cx="27432" cy="2011680"/>
          </a:xfrm>
          <a:prstGeom prst="rect">
            <a:avLst/>
          </a:prstGeom>
          <a:solidFill>
            <a:srgbClr val="C8D5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5324B"/>
                </a:solidFill>
                <a:latin typeface="Aptos"/>
              </a:defRPr>
            </a:pPr>
            <a:r>
              <a:t>In the multiple model, each coefficient describes an association while the other two measurements are held constant.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96773"/>
                </a:solidFill>
                <a:latin typeface="Aptos"/>
              </a:defRPr>
            </a:pPr>
            <a:r>
              <a:t>Better fit in this sample does not prove better clinical decisions or causal effects.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96773"/>
                </a:solidFill>
                <a:latin typeface="Aptos"/>
              </a:defRPr>
            </a:pPr>
            <a:r>
              <a:t>Diabetes progression | Scenario 1                                     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324B"/>
                </a:solidFill>
                <a:latin typeface="Aptos"/>
              </a:defRPr>
            </a:pPr>
            <a:r>
              <a:t>What a decision-maker should take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96773"/>
                </a:solidFill>
                <a:latin typeface="Aptos"/>
              </a:defRPr>
            </a:pPr>
            <a:r>
              <a:t>Interpret the findings within their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8A8A"/>
                </a:solidFill>
                <a:latin typeface="Aptos"/>
              </a:defRPr>
            </a:pPr>
            <a:r>
              <a:t>Supported by this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5324B"/>
                </a:solidFill>
                <a:latin typeface="Aptos"/>
              </a:defRPr>
            </a:pPr>
            <a:r>
              <a:t>• BMI, bp and s5 were associated with progression.</a:t>
            </a:r>
            <a:br/>
            <a:br/>
            <a:r>
              <a:t>• Together they explained about 48% of variation in this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05A46"/>
                </a:solidFill>
                <a:latin typeface="Aptos"/>
              </a:defRPr>
            </a:pPr>
            <a:r>
              <a:t>Not established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92024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5324B"/>
                </a:solidFill>
                <a:latin typeface="Aptos"/>
              </a:defRPr>
            </a:pPr>
            <a:r>
              <a:t>• That changing one measure will change progression.</a:t>
            </a:r>
            <a:br/>
            <a:br/>
            <a:r>
              <a:t>• That the model works equally well in other populations.</a:t>
            </a:r>
            <a:br/>
            <a:br/>
            <a:r>
              <a:t>• That it is ready for clinical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96773"/>
                </a:solidFill>
                <a:latin typeface="Aptos"/>
              </a:defRPr>
            </a:pPr>
            <a:r>
              <a:t>Observational data, possible confounding and remaining prediction error limit conclusions.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96773"/>
                </a:solidFill>
                <a:latin typeface="Aptos"/>
              </a:defRPr>
            </a:pPr>
            <a:r>
              <a:t>Diabetes progression | Scenario 1                                     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